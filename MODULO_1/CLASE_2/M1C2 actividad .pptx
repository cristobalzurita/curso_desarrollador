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1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7CFC"/>
    <a:srgbClr val="0E363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45FBCA-4C9F-A673-DEFD-7518FC50E099}" v="162" dt="2025-11-06T23:46:05.094"/>
    <p1510:client id="{2E3F853E-F1DE-4D10-4195-5FAF974DD55F}" v="78" dt="2025-11-06T23:47:05.031"/>
    <p1510:client id="{53A1F6FC-1B5A-972A-A5E8-C67EA22A38CB}" v="77" dt="2025-11-06T23:53:01.905"/>
    <p1510:client id="{6F395ED8-2BB0-415E-891B-0023B5A8EA74}" v="371" dt="2025-11-06T23:39:31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dirty="0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11/6/2025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uladigital.sence.cl/course/view.php?id=5777" TargetMode="Externa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B8AA617-0537-4ED7-91B6-66511A64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0CEDEB-4F4C-6762-569D-6A059F926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2657074"/>
            <a:ext cx="12092609" cy="1156749"/>
          </a:xfrm>
          <a:solidFill>
            <a:srgbClr val="002060">
              <a:alpha val="88000"/>
            </a:srgbClr>
          </a:solidFill>
        </p:spPr>
        <p:txBody>
          <a:bodyPr vert="horz" lIns="91440" tIns="45720" rIns="91440" bIns="45720" rtlCol="0">
            <a:normAutofit/>
          </a:bodyPr>
          <a:lstStyle/>
          <a:p>
            <a:r>
              <a:rPr lang="es-CL" noProof="0" dirty="0"/>
              <a:t>		</a:t>
            </a:r>
            <a:r>
              <a:rPr lang="es-CL" noProof="0" dirty="0" err="1"/>
              <a:t>Analisis</a:t>
            </a:r>
            <a:r>
              <a:rPr lang="es-CL" noProof="0" dirty="0"/>
              <a:t> Laboral</a:t>
            </a:r>
          </a:p>
        </p:txBody>
      </p:sp>
      <p:sp>
        <p:nvSpPr>
          <p:cNvPr id="7" name="AutoShape 2" descr="Software de Recursos Humanos | Buk">
            <a:extLst>
              <a:ext uri="{FF2B5EF4-FFF2-40B4-BE49-F238E27FC236}">
                <a16:creationId xmlns:a16="http://schemas.microsoft.com/office/drawing/2014/main" id="{E73B0E90-B21B-0ADA-EE47-D1C78E7177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615732" y="5123506"/>
            <a:ext cx="2506420" cy="2506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noProof="0" dirty="0"/>
          </a:p>
        </p:txBody>
      </p:sp>
      <p:pic>
        <p:nvPicPr>
          <p:cNvPr id="1030" name="Picture 6" descr="Buk | LinkedIn">
            <a:extLst>
              <a:ext uri="{FF2B5EF4-FFF2-40B4-BE49-F238E27FC236}">
                <a16:creationId xmlns:a16="http://schemas.microsoft.com/office/drawing/2014/main" id="{AEC2CA6C-6519-3650-F67D-4FA3F36C1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761" y="1917864"/>
            <a:ext cx="2643349" cy="2643349"/>
          </a:xfrm>
          <a:prstGeom prst="rect">
            <a:avLst/>
          </a:prstGeom>
          <a:noFill/>
          <a:ln>
            <a:solidFill>
              <a:srgbClr val="FFFF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Gráfico 17" descr="Maletín con relleno sólido">
            <a:extLst>
              <a:ext uri="{FF2B5EF4-FFF2-40B4-BE49-F238E27FC236}">
                <a16:creationId xmlns:a16="http://schemas.microsoft.com/office/drawing/2014/main" id="{E515F583-55C1-5830-A38F-5C8F86C99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26806" y="2780003"/>
            <a:ext cx="914400" cy="914400"/>
          </a:xfrm>
          <a:prstGeom prst="rect">
            <a:avLst/>
          </a:prstGeom>
        </p:spPr>
      </p:pic>
      <p:sp>
        <p:nvSpPr>
          <p:cNvPr id="30" name="Subtítulo 29">
            <a:extLst>
              <a:ext uri="{FF2B5EF4-FFF2-40B4-BE49-F238E27FC236}">
                <a16:creationId xmlns:a16="http://schemas.microsoft.com/office/drawing/2014/main" id="{3CBA1CA5-A809-5781-33FD-D7BF14DCC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7215" y="3894380"/>
            <a:ext cx="7315200" cy="914400"/>
          </a:xfrm>
        </p:spPr>
        <p:txBody>
          <a:bodyPr>
            <a:normAutofit/>
          </a:bodyPr>
          <a:lstStyle/>
          <a:p>
            <a:r>
              <a:rPr lang="es-CL" sz="2400" i="1" noProof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arajita" panose="02020603050405020304" pitchFamily="18" charset="0"/>
                <a:cs typeface="Aparajita" panose="02020603050405020304" pitchFamily="18" charset="0"/>
              </a:rPr>
              <a:t>Perfiles y competencias</a:t>
            </a:r>
            <a:endParaRPr lang="es-CL" sz="2400" i="1" noProof="0" dirty="0">
              <a:solidFill>
                <a:schemeClr val="accent1">
                  <a:lumMod val="50000"/>
                </a:schemeClr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A23AF580-1C6B-4063-F950-7CFBEFE58D60}"/>
              </a:ext>
            </a:extLst>
          </p:cNvPr>
          <p:cNvCxnSpPr>
            <a:cxnSpLocks/>
          </p:cNvCxnSpPr>
          <p:nvPr/>
        </p:nvCxnSpPr>
        <p:spPr>
          <a:xfrm>
            <a:off x="507999" y="4091709"/>
            <a:ext cx="21797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91AEB433-2F44-009A-E152-87715B77FB5D}"/>
              </a:ext>
            </a:extLst>
          </p:cNvPr>
          <p:cNvCxnSpPr/>
          <p:nvPr/>
        </p:nvCxnSpPr>
        <p:spPr>
          <a:xfrm>
            <a:off x="5319237" y="4091709"/>
            <a:ext cx="20847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44E2005D-F9E7-D9BA-6053-A4A17AD7AD0D}"/>
              </a:ext>
            </a:extLst>
          </p:cNvPr>
          <p:cNvSpPr txBox="1"/>
          <p:nvPr/>
        </p:nvSpPr>
        <p:spPr>
          <a:xfrm>
            <a:off x="8680583" y="6415053"/>
            <a:ext cx="4092445" cy="369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/>
              <a:t>Sección: </a:t>
            </a:r>
            <a:r>
              <a:rPr lang="es-CL" noProof="0" dirty="0">
                <a:solidFill>
                  <a:srgbClr val="002060"/>
                </a:solidFill>
                <a:hlinkClick r:id="rId5" tooltip="DESARROLLO DE APLICACIONES FRONT-END TRAINEE V2.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RTD-24-01-07-0025-1</a:t>
            </a:r>
            <a:endParaRPr lang="es-CL" noProof="0" dirty="0">
              <a:solidFill>
                <a:srgbClr val="002060"/>
              </a:solidFill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B59E552-6D9C-BEA0-7CFD-3C6529A6E5AF}"/>
              </a:ext>
            </a:extLst>
          </p:cNvPr>
          <p:cNvSpPr txBox="1"/>
          <p:nvPr/>
        </p:nvSpPr>
        <p:spPr>
          <a:xfrm>
            <a:off x="1597890" y="3509737"/>
            <a:ext cx="74860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CL" b="1" i="0" noProof="0" dirty="0">
                <a:solidFill>
                  <a:srgbClr val="FFFFFF"/>
                </a:solidFill>
                <a:effectLst/>
                <a:latin typeface="Source Sans Pro" panose="020B0503030403020204" pitchFamily="34" charset="0"/>
              </a:rPr>
              <a:t>Software Integral de</a:t>
            </a:r>
            <a:r>
              <a:rPr lang="es-CL" b="1" i="0" noProof="0" dirty="0">
                <a:solidFill>
                  <a:srgbClr val="FBBF3D"/>
                </a:solidFill>
                <a:effectLst/>
                <a:latin typeface="Source Sans Pro" panose="020B0503030403020204" pitchFamily="34" charset="0"/>
              </a:rPr>
              <a:t> Gestión de Personas y Finanzas</a:t>
            </a:r>
            <a:endParaRPr lang="es-CL" b="1" i="0" noProof="0" dirty="0">
              <a:solidFill>
                <a:srgbClr val="FFFFFF"/>
              </a:solidFill>
              <a:effectLst/>
              <a:latin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68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52A2FAE-7927-ACB8-1B20-6094FDF401B6}"/>
              </a:ext>
            </a:extLst>
          </p:cNvPr>
          <p:cNvSpPr/>
          <p:nvPr/>
        </p:nvSpPr>
        <p:spPr>
          <a:xfrm>
            <a:off x="1286934" y="761999"/>
            <a:ext cx="7854685" cy="80818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2400" b="0" cap="none" spc="-10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Perfiles Profesionales  requeridos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4C85E30-FCF7-15EE-5213-503D27215D09}"/>
              </a:ext>
            </a:extLst>
          </p:cNvPr>
          <p:cNvSpPr txBox="1"/>
          <p:nvPr/>
        </p:nvSpPr>
        <p:spPr>
          <a:xfrm>
            <a:off x="1415578" y="1924978"/>
            <a:ext cx="80802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Desarrollador/a de Software (Back-</a:t>
            </a:r>
            <a:r>
              <a:rPr lang="es-CL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end</a:t>
            </a:r>
            <a:r>
              <a:rPr lang="es-CL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y Front-</a:t>
            </a:r>
            <a:r>
              <a:rPr lang="es-CL" noProof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end</a:t>
            </a:r>
            <a:r>
              <a:rPr lang="es-CL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noProof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Analista de 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noProof="0" dirty="0" err="1"/>
              <a:t>Product</a:t>
            </a:r>
            <a:r>
              <a:rPr lang="es-CL" noProof="0" dirty="0"/>
              <a:t>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noProof="0" dirty="0" err="1"/>
              <a:t>Customer</a:t>
            </a:r>
            <a:r>
              <a:rPr lang="es-CL" noProof="0" dirty="0"/>
              <a:t> </a:t>
            </a:r>
            <a:r>
              <a:rPr lang="es-CL" noProof="0" dirty="0" err="1"/>
              <a:t>succes</a:t>
            </a:r>
            <a:r>
              <a:rPr lang="es-CL" noProof="0" dirty="0"/>
              <a:t> manager (manager de clientes enfocado en RRHH)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noProof="0" dirty="0"/>
              <a:t>Analista de recursos humanos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noProof="0" dirty="0" err="1"/>
              <a:t>Tester</a:t>
            </a:r>
            <a:r>
              <a:rPr lang="es-CL" noProof="0" dirty="0"/>
              <a:t> Q.A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noProof="0" dirty="0"/>
              <a:t>Ingeniero </a:t>
            </a:r>
            <a:r>
              <a:rPr lang="es-CL" i="1" noProof="0" dirty="0"/>
              <a:t>DevOps</a:t>
            </a:r>
            <a:endParaRPr lang="es-CL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noProof="0" dirty="0"/>
              <a:t>arquitecto de software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noProof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L" b="1" spc="50" noProof="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  <a:p>
            <a:endParaRPr lang="es-CL" b="1" spc="50" noProof="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58913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0FC4CC4-4619-D07D-5276-D85B09A58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6934" y="761999"/>
            <a:ext cx="7838016" cy="805341"/>
          </a:xfrm>
          <a:noFill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/>
          <a:p>
            <a:r>
              <a:rPr lang="es-CL" sz="2400" spc="0" noProof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es-CL" sz="2400" spc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Integración</a:t>
            </a:r>
            <a:r>
              <a:rPr lang="es-CL" sz="4000" spc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</a:t>
            </a:r>
            <a:r>
              <a:rPr lang="es-CL" sz="2400" spc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Laboral</a:t>
            </a:r>
            <a:endParaRPr lang="es-CL" sz="4000" spc="0" noProof="0" dirty="0">
              <a:ln w="0"/>
              <a:solidFill>
                <a:srgbClr val="00206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5A4D6EF-B2D7-377A-342F-95A9842510B2}"/>
              </a:ext>
            </a:extLst>
          </p:cNvPr>
          <p:cNvSpPr txBox="1"/>
          <p:nvPr/>
        </p:nvSpPr>
        <p:spPr>
          <a:xfrm>
            <a:off x="1635499" y="1753417"/>
            <a:ext cx="8886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/>
              <a:t>Principalmente hibrido  según cargo y proyecto a cargo debido a que cada cargo es diferente y no contiene un modelo único. </a:t>
            </a:r>
          </a:p>
          <a:p>
            <a:r>
              <a:rPr lang="es-CL" noProof="0" dirty="0"/>
              <a:t>Por ejemplo los trabajadores de recursos humanos pueden estar  trabajando en oficina , mientras que un ingeniero </a:t>
            </a:r>
            <a:r>
              <a:rPr lang="es-CL" noProof="0" dirty="0" err="1"/>
              <a:t>develop</a:t>
            </a:r>
            <a:r>
              <a:rPr lang="es-CL" noProof="0" dirty="0"/>
              <a:t> puede estar en su casa y manteniendo reuniones semanales o mensuales.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80D0E53-A5F5-0D71-CA8E-EAEFA28D04EB}"/>
              </a:ext>
            </a:extLst>
          </p:cNvPr>
          <p:cNvSpPr txBox="1"/>
          <p:nvPr/>
        </p:nvSpPr>
        <p:spPr>
          <a:xfrm>
            <a:off x="1635499" y="3320757"/>
            <a:ext cx="8048625" cy="25853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noProof="0" dirty="0" err="1"/>
              <a:t>Metodologia</a:t>
            </a:r>
            <a:r>
              <a:rPr lang="es-CL" noProof="0" dirty="0"/>
              <a:t> de comunicación : Microsoft  </a:t>
            </a:r>
            <a:r>
              <a:rPr lang="es-CL" noProof="0" dirty="0" err="1"/>
              <a:t>teams</a:t>
            </a:r>
            <a:r>
              <a:rPr lang="es-CL" noProof="0" dirty="0"/>
              <a:t> o </a:t>
            </a:r>
            <a:r>
              <a:rPr lang="es-CL" noProof="0" dirty="0" err="1"/>
              <a:t>slack</a:t>
            </a:r>
            <a:r>
              <a:rPr lang="es-CL" noProof="0" dirty="0"/>
              <a:t>  a preferencia .</a:t>
            </a:r>
          </a:p>
          <a:p>
            <a:r>
              <a:rPr lang="es-CL" noProof="0" dirty="0"/>
              <a:t> </a:t>
            </a:r>
            <a:r>
              <a:rPr lang="es-CL" noProof="0" dirty="0" err="1"/>
              <a:t>Gestion</a:t>
            </a:r>
            <a:r>
              <a:rPr lang="es-CL" noProof="0" dirty="0"/>
              <a:t> de proyecto : principalmente scrum y Kanban </a:t>
            </a:r>
          </a:p>
          <a:p>
            <a:r>
              <a:rPr lang="es-CL" noProof="0" dirty="0" err="1"/>
              <a:t>Buk</a:t>
            </a:r>
            <a:r>
              <a:rPr lang="es-CL" noProof="0" dirty="0"/>
              <a:t> : contiene su propia plataforma para realizar desde actividades de remuneraciones a trabajos de comunicación ,desarrollo web.</a:t>
            </a:r>
          </a:p>
          <a:p>
            <a:endParaRPr lang="es-CL" noProof="0" dirty="0"/>
          </a:p>
          <a:p>
            <a:r>
              <a:rPr lang="es-CL" noProof="0" dirty="0">
                <a:ea typeface="+mn-lt"/>
                <a:cs typeface="+mn-lt"/>
              </a:rPr>
              <a:t>La integración de trabajo  se basa en la </a:t>
            </a:r>
            <a:r>
              <a:rPr lang="es-CL" b="1" noProof="0" dirty="0">
                <a:ea typeface="+mn-lt"/>
                <a:cs typeface="+mn-lt"/>
              </a:rPr>
              <a:t>colaboración constante</a:t>
            </a:r>
            <a:r>
              <a:rPr lang="es-CL" noProof="0" dirty="0">
                <a:ea typeface="+mn-lt"/>
                <a:cs typeface="+mn-lt"/>
              </a:rPr>
              <a:t> y el enfoque en objetivos compartidos. El equipo de Producto/Desarrollo se organiza típicamente en </a:t>
            </a:r>
            <a:r>
              <a:rPr lang="es-CL" b="1" noProof="0" dirty="0">
                <a:ea typeface="+mn-lt"/>
                <a:cs typeface="+mn-lt"/>
              </a:rPr>
              <a:t>equipos multidisciplinarios</a:t>
            </a:r>
            <a:endParaRPr lang="es-CL" noProof="0" dirty="0"/>
          </a:p>
          <a:p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128678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FBDE887-5B60-BA18-0574-0BCE679DD659}"/>
              </a:ext>
            </a:extLst>
          </p:cNvPr>
          <p:cNvSpPr/>
          <p:nvPr/>
        </p:nvSpPr>
        <p:spPr>
          <a:xfrm>
            <a:off x="1286934" y="761999"/>
            <a:ext cx="7854685" cy="58189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2400" b="0" cap="none" spc="-10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Competencias y habilidades laborales requeridas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252FCA3-5B41-05FE-DFCD-1B4A873F2794}"/>
              </a:ext>
            </a:extLst>
          </p:cNvPr>
          <p:cNvSpPr txBox="1"/>
          <p:nvPr/>
        </p:nvSpPr>
        <p:spPr>
          <a:xfrm>
            <a:off x="2162735" y="2241176"/>
            <a:ext cx="609600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s-CL" b="1" noProof="0" dirty="0"/>
              <a:t>Programación y Arquitectura de Software:</a:t>
            </a:r>
            <a:r>
              <a:rPr lang="es-CL" noProof="0" dirty="0"/>
              <a:t> Dominio de lenguajes  (ej. Python, </a:t>
            </a:r>
            <a:r>
              <a:rPr lang="es-CL" noProof="0" dirty="0" err="1"/>
              <a:t>React</a:t>
            </a:r>
            <a:r>
              <a:rPr lang="es-CL" noProof="0" dirty="0"/>
              <a:t>, bases de datos ).</a:t>
            </a:r>
          </a:p>
          <a:p>
            <a:pPr marL="228600" indent="-228600">
              <a:buFont typeface=""/>
              <a:buChar char="•"/>
            </a:pPr>
            <a:endParaRPr lang="es-CL" noProof="0" dirty="0"/>
          </a:p>
          <a:p>
            <a:pPr marL="228600" indent="-228600">
              <a:buFont typeface=""/>
              <a:buChar char="•"/>
            </a:pPr>
            <a:r>
              <a:rPr lang="es-CL" b="1" noProof="0" dirty="0"/>
              <a:t>Análisis de Datos</a:t>
            </a:r>
            <a:r>
              <a:rPr lang="es-CL" noProof="0" dirty="0"/>
              <a:t> Capacidad para interpretar métricas y datos para la mejora continua del producto y las decisiones de negocio.</a:t>
            </a:r>
          </a:p>
          <a:p>
            <a:pPr marL="228600" indent="-228600">
              <a:buFont typeface=""/>
              <a:buChar char="•"/>
            </a:pPr>
            <a:endParaRPr lang="es-CL" noProof="0" dirty="0"/>
          </a:p>
          <a:p>
            <a:pPr marL="228600" indent="-228600">
              <a:buFont typeface=""/>
              <a:buChar char="•"/>
            </a:pPr>
            <a:r>
              <a:rPr lang="es-CL" b="1" noProof="0" dirty="0"/>
              <a:t>Metodologías Ágiles:</a:t>
            </a:r>
            <a:r>
              <a:rPr lang="es-CL" noProof="0" dirty="0"/>
              <a:t> Experiencia en marcos de trabajo como Scrum.</a:t>
            </a:r>
          </a:p>
          <a:p>
            <a:pPr marL="228600" indent="-228600">
              <a:buFont typeface=""/>
              <a:buChar char="•"/>
            </a:pPr>
            <a:r>
              <a:rPr lang="es-CL" b="1" noProof="0" dirty="0"/>
              <a:t>Manejo de su Propia Plataforma:</a:t>
            </a:r>
            <a:r>
              <a:rPr lang="es-CL" noProof="0" dirty="0"/>
              <a:t> Experiencia en soluciones de Gestión de Personas/RR.HH.</a:t>
            </a:r>
          </a:p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3336199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208D498-7B1B-E9B9-896A-586776E39EC4}"/>
              </a:ext>
            </a:extLst>
          </p:cNvPr>
          <p:cNvSpPr/>
          <p:nvPr/>
        </p:nvSpPr>
        <p:spPr>
          <a:xfrm>
            <a:off x="1278024" y="919056"/>
            <a:ext cx="8983489" cy="1493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s-CL" sz="2800" b="0" cap="none" spc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Descripción de la empresa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s-CL" sz="280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Perfiles clave 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s-CL" sz="2800" b="0" cap="none" spc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Contexto laboral </a:t>
            </a:r>
          </a:p>
          <a:p>
            <a:pPr indent="-18288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Wingdings 2" pitchFamily="18" charset="2"/>
              <a:buChar char=""/>
            </a:pPr>
            <a:r>
              <a:rPr lang="es-CL" sz="280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Competencia laboral </a:t>
            </a:r>
            <a:r>
              <a:rPr lang="es-CL" sz="2800" b="0" cap="none" spc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FE1FAC7-6575-A648-6984-390600A9BAED}"/>
              </a:ext>
            </a:extLst>
          </p:cNvPr>
          <p:cNvSpPr txBox="1"/>
          <p:nvPr/>
        </p:nvSpPr>
        <p:spPr>
          <a:xfrm>
            <a:off x="1602441" y="2689412"/>
            <a:ext cx="9132794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s-CL" b="1" noProof="0" dirty="0"/>
              <a:t>Orientación a las Personas y Colaboración:</a:t>
            </a:r>
            <a:r>
              <a:rPr lang="es-CL" noProof="0" dirty="0"/>
              <a:t> Fundamental, dado que su misión es hacer lugares de trabajo más felices (lema de la empresa . Se valora el </a:t>
            </a:r>
            <a:r>
              <a:rPr lang="es-CL" b="1" noProof="0" dirty="0"/>
              <a:t>trabajo en equipo horizontal</a:t>
            </a:r>
            <a:r>
              <a:rPr lang="es-CL" noProof="0" dirty="0"/>
              <a:t>.</a:t>
            </a:r>
          </a:p>
          <a:p>
            <a:pPr marL="228600" indent="-228600">
              <a:buFont typeface=""/>
              <a:buChar char="•"/>
            </a:pPr>
            <a:r>
              <a:rPr lang="es-CL" b="1" noProof="0" dirty="0"/>
              <a:t>Adaptabilidad y Pensamiento Crítico:</a:t>
            </a:r>
            <a:r>
              <a:rPr lang="es-CL" noProof="0" dirty="0"/>
              <a:t> La capacidad de adaptarse rápidamente al cambio  resolver problemas de forma sistemática.</a:t>
            </a:r>
          </a:p>
          <a:p>
            <a:pPr marL="228600" indent="-228600">
              <a:buFont typeface=""/>
              <a:buChar char="•"/>
            </a:pPr>
            <a:endParaRPr lang="es-CL" noProof="0" dirty="0"/>
          </a:p>
          <a:p>
            <a:pPr marL="228600" indent="-228600">
              <a:buFont typeface=""/>
              <a:buChar char="•"/>
            </a:pPr>
            <a:r>
              <a:rPr lang="es-CL" b="1" noProof="0" dirty="0"/>
              <a:t>Comunicación Efectiva:</a:t>
            </a:r>
            <a:r>
              <a:rPr lang="es-CL" noProof="0" dirty="0"/>
              <a:t> Clave para la coordinación interna, así como para interactuar con clientes (especialmente en roles comerciales y de </a:t>
            </a:r>
            <a:r>
              <a:rPr lang="es-CL" i="1" noProof="0" dirty="0" err="1"/>
              <a:t>Customer</a:t>
            </a:r>
            <a:r>
              <a:rPr lang="es-CL" i="1" noProof="0" dirty="0"/>
              <a:t> </a:t>
            </a:r>
            <a:r>
              <a:rPr lang="es-CL" i="1" noProof="0" dirty="0" err="1"/>
              <a:t>Success</a:t>
            </a:r>
            <a:r>
              <a:rPr lang="es-CL" noProof="0" dirty="0"/>
              <a:t>).</a:t>
            </a:r>
          </a:p>
          <a:p>
            <a:pPr marL="228600" indent="-228600">
              <a:buFont typeface=""/>
              <a:buChar char="•"/>
            </a:pPr>
            <a:r>
              <a:rPr lang="es-CL" b="1" noProof="0" dirty="0"/>
              <a:t>Liderazgo Horizontal:</a:t>
            </a:r>
            <a:r>
              <a:rPr lang="es-CL" noProof="0" dirty="0"/>
              <a:t> Fomentar la participación, la inclusión y el desarrollo del potencial en los demás.</a:t>
            </a:r>
          </a:p>
          <a:p>
            <a:pPr algn="ctr"/>
            <a:endParaRPr lang="es-CL" noProof="0" dirty="0"/>
          </a:p>
        </p:txBody>
      </p:sp>
    </p:spTree>
    <p:extLst>
      <p:ext uri="{BB962C8B-B14F-4D97-AF65-F5344CB8AC3E}">
        <p14:creationId xmlns:p14="http://schemas.microsoft.com/office/powerpoint/2010/main" val="1514909864"/>
      </p:ext>
    </p:extLst>
  </p:cSld>
  <p:clrMapOvr>
    <a:masterClrMapping/>
  </p:clrMapOvr>
</p:sld>
</file>

<file path=ppt/theme/theme1.xml><?xml version="1.0" encoding="utf-8"?>
<a:theme xmlns:a="http://schemas.openxmlformats.org/drawingml/2006/main" name="Marco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TM03457475[[fn=Marco]]</Template>
  <TotalTime>204</TotalTime>
  <Words>365</Words>
  <Application>Microsoft Office PowerPoint</Application>
  <PresentationFormat>Panorámica</PresentationFormat>
  <Paragraphs>39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Aparajita</vt:lpstr>
      <vt:lpstr>Arial</vt:lpstr>
      <vt:lpstr>Corbel</vt:lpstr>
      <vt:lpstr>Source Sans Pro</vt:lpstr>
      <vt:lpstr>Wingdings 2</vt:lpstr>
      <vt:lpstr>Marco</vt:lpstr>
      <vt:lpstr>  Analisis Laboral</vt:lpstr>
      <vt:lpstr>Presentación de PowerPoint</vt:lpstr>
      <vt:lpstr>  Integración  Laboral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Angello Santibañez Ibacache</dc:creator>
  <cp:lastModifiedBy>Angello Santibañez Ibacache</cp:lastModifiedBy>
  <cp:revision>30</cp:revision>
  <dcterms:created xsi:type="dcterms:W3CDTF">2025-11-06T20:10:24Z</dcterms:created>
  <dcterms:modified xsi:type="dcterms:W3CDTF">2025-11-06T23:56:50Z</dcterms:modified>
</cp:coreProperties>
</file>